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40080"/>
            <a:ext cx="804672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Tối ưu Coupling &amp; Cohesion</a:t>
            </a:r>
            <a:br/>
            <a:r>
              <a:t>trong Java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0" y="1005840"/>
            <a:ext cx="292608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325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Seminar 60 phút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698480" cy="2926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560320"/>
            <a:ext cx="2011680" cy="1097280"/>
          </a:xfrm>
          <a:prstGeom prst="rect">
            <a:avLst/>
          </a:prstGeom>
          <a:solidFill>
            <a:srgbClr val="BFDB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Low</a:t>
            </a:r>
          </a:p>
          <a:p>
            <a:r>
              <a:t>Coupling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560320"/>
            <a:ext cx="2148840" cy="1097280"/>
          </a:xfrm>
          <a:prstGeom prst="rect">
            <a:avLst/>
          </a:prstGeom>
          <a:solidFill>
            <a:srgbClr val="BBF7D0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High</a:t>
            </a:r>
          </a:p>
          <a:p>
            <a:r>
              <a:t>Cohesion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560320"/>
            <a:ext cx="2286000" cy="1097280"/>
          </a:xfrm>
          <a:prstGeom prst="rect">
            <a:avLst/>
          </a:prstGeom>
          <a:solidFill>
            <a:srgbClr val="FED7AA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Easy to</a:t>
            </a:r>
          </a:p>
          <a:p>
            <a:r>
              <a:t>Maintain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3063240"/>
            <a:ext cx="1600200" cy="9144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858000" y="3063240"/>
            <a:ext cx="1508760" cy="9144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Segoe UI"/>
              </a:rPr>
              <a:t>Mục tiêu: xây dựng hệ thống linh hoạt, dễ thay đổi, ít phản ứng dây chuyền.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Agenda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60 phút · 3 phần lớn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926080" cy="1371600"/>
          </a:xfrm>
          <a:prstGeom prst="roundRect">
            <a:avLst/>
          </a:prstGeom>
          <a:solidFill>
            <a:srgbClr val="2563E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01</a:t>
            </a:r>
          </a:p>
          <a:p>
            <a:r>
              <a:rPr sz="1600" b="1">
                <a:solidFill>
                  <a:srgbClr val="FFFFFF"/>
                </a:solidFill>
              </a:rPr>
              <a:t>Nền tảng</a:t>
            </a:r>
          </a:p>
          <a:p>
            <a:r>
              <a:rPr sz="1000">
                <a:solidFill>
                  <a:srgbClr val="F0F9FF"/>
                </a:solidFill>
              </a:rPr>
              <a:t>Khái niệm, quan hệ và mục tiêu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2926080" cy="1371600"/>
          </a:xfrm>
          <a:prstGeom prst="roundRect">
            <a:avLst/>
          </a:prstGeom>
          <a:solidFill>
            <a:srgbClr val="0EA5E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02</a:t>
            </a:r>
          </a:p>
          <a:p>
            <a:r>
              <a:rPr sz="1600" b="1">
                <a:solidFill>
                  <a:srgbClr val="FFFFFF"/>
                </a:solidFill>
              </a:rPr>
              <a:t>Coupling</a:t>
            </a:r>
          </a:p>
          <a:p>
            <a:r>
              <a:rPr sz="1000">
                <a:solidFill>
                  <a:srgbClr val="F0F9FF"/>
                </a:solidFill>
              </a:rPr>
              <a:t>Content, common, control, stamp, message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2926080" cy="1371600"/>
          </a:xfrm>
          <a:prstGeom prst="roundRect">
            <a:avLst/>
          </a:prstGeom>
          <a:solidFill>
            <a:srgbClr val="14B8A6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03</a:t>
            </a:r>
          </a:p>
          <a:p>
            <a:r>
              <a:rPr sz="1600" b="1">
                <a:solidFill>
                  <a:srgbClr val="FFFFFF"/>
                </a:solidFill>
              </a:rPr>
              <a:t>Cohesion</a:t>
            </a:r>
          </a:p>
          <a:p>
            <a:r>
              <a:rPr sz="1000">
                <a:solidFill>
                  <a:srgbClr val="F0F9FF"/>
                </a:solidFill>
              </a:rPr>
              <a:t>Coincidental đến functional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926080" cy="1371600"/>
          </a:xfrm>
          <a:prstGeom prst="roundRect">
            <a:avLst/>
          </a:prstGeom>
          <a:solidFill>
            <a:srgbClr val="22C55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04</a:t>
            </a:r>
          </a:p>
          <a:p>
            <a:r>
              <a:rPr sz="1600" b="1">
                <a:solidFill>
                  <a:srgbClr val="FFFFFF"/>
                </a:solidFill>
              </a:rPr>
              <a:t>SOLID + Test</a:t>
            </a:r>
          </a:p>
          <a:p>
            <a:r>
              <a:rPr sz="1000">
                <a:solidFill>
                  <a:srgbClr val="F0F9FF"/>
                </a:solidFill>
              </a:rPr>
              <a:t>DIP, SRP, unit test, refactor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474720"/>
            <a:ext cx="2926080" cy="1371600"/>
          </a:xfrm>
          <a:prstGeom prst="roundRect">
            <a:avLst/>
          </a:prstGeom>
          <a:solidFill>
            <a:srgbClr val="F97316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05</a:t>
            </a:r>
          </a:p>
          <a:p>
            <a:r>
              <a:rPr sz="1600" b="1">
                <a:solidFill>
                  <a:srgbClr val="FFFFFF"/>
                </a:solidFill>
              </a:rPr>
              <a:t>Thực hành</a:t>
            </a:r>
          </a:p>
          <a:p>
            <a:r>
              <a:rPr sz="1000">
                <a:solidFill>
                  <a:srgbClr val="F0F9FF"/>
                </a:solidFill>
              </a:rPr>
              <a:t>Metric, tool, checklist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Cốt lõi của thiết kế phần mềm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Coupling và Cohesion là hai mặt của cùng một vấn đề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38928" cy="31089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2563EB"/>
                </a:solidFill>
                <a:latin typeface="Segoe UI Semibold"/>
              </a:rPr>
              <a:t>Coupling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Segoe UI"/>
              </a:rPr>
              <a:t>Các module phụ thuộc lẫn nhau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Segoe UI"/>
              </a:rPr>
              <a:t>Thay đổi của module A làm B ảnh hưởng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Segoe UI"/>
              </a:rPr>
              <a:t>Mức độ gắn kết của hệ thống quá mạnh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645920"/>
            <a:ext cx="5138928" cy="31089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Cohesion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Segoe UI"/>
              </a:rPr>
              <a:t>Các thành phần trong cùng module hợp nhau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Segoe UI"/>
              </a:rPr>
              <a:t>Một module chỉ làm một “cái gì đó”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Segoe UI"/>
              </a:rPr>
              <a:t>Nộp trách nhiệm rõ ràng và tập trung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698480" cy="73152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0F172A"/>
                </a:solidFill>
                <a:latin typeface="Segoe UI Semibold"/>
              </a:rPr>
              <a:t>Mục tiêu: giảm phụ thuộc giữa module, tăng sự tập trung bên trong module.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Tại sao Tight Coupling là “kẻ thù” của bảo trì?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Một thay đổi nhỏ có thể kéo theo hàng loạt hệ thống bị sửa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737360"/>
            <a:ext cx="2011680" cy="201168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828800"/>
            <a:ext cx="1188720" cy="91440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F4444"/>
                </a:solidFill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3108960"/>
            <a:ext cx="1188720" cy="91440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F4444"/>
                </a:solidFill>
              </a:rPr>
              <a:t>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2286000"/>
            <a:ext cx="548640" cy="91440"/>
          </a:xfrm>
          <a:prstGeom prst="rightArrow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1188720" cy="91440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F4444"/>
                </a:solidFill>
              </a:rPr>
              <a:t>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63440" y="2926080"/>
            <a:ext cx="548640" cy="91440"/>
          </a:xfrm>
          <a:prstGeom prst="rightArrow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59" y="3108960"/>
            <a:ext cx="1188720" cy="91440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F4444"/>
                </a:solidFill>
              </a:rPr>
              <a:t>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00800" y="3566160"/>
            <a:ext cx="548640" cy="91440"/>
          </a:xfrm>
          <a:prstGeom prst="rightArrow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1645920"/>
            <a:ext cx="38404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0F172A"/>
                </a:solidFill>
              </a:rPr>
              <a:t>• Ripple effect</a:t>
            </a:r>
          </a:p>
          <a:p>
            <a:r>
              <a:rPr sz="1600">
                <a:solidFill>
                  <a:srgbClr val="0F172A"/>
                </a:solidFill>
              </a:rPr>
              <a:t>• Khó test</a:t>
            </a:r>
          </a:p>
          <a:p>
            <a:r>
              <a:rPr sz="1600">
                <a:solidFill>
                  <a:srgbClr val="0F172A"/>
                </a:solidFill>
              </a:rPr>
              <a:t>• Khó tái sử dụng</a:t>
            </a:r>
          </a:p>
          <a:p>
            <a:r>
              <a:rPr sz="1600">
                <a:solidFill>
                  <a:srgbClr val="0F172A"/>
                </a:solidFill>
              </a:rPr>
              <a:t>• Cập nhật sai phạm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Các loại Coupling thường gặp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Độ nguy hiểm tăng dần theo mức phụ thuộc trực tiếp và ẩn tàng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0175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/>
            <a:r>
              <a:rPr b="1" sz="1600">
                <a:solidFill>
                  <a:srgbClr val="EF4444"/>
                </a:solidFill>
              </a:rPr>
              <a:t>Content Coupling</a:t>
            </a:r>
          </a:p>
          <a:p>
            <a:r>
              <a:rPr sz="1000">
                <a:solidFill>
                  <a:srgbClr val="0F172A"/>
                </a:solidFill>
              </a:rPr>
              <a:t>Truy cập trực tiếp field/private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0175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/>
            <a:r>
              <a:rPr b="1" sz="1600">
                <a:solidFill>
                  <a:srgbClr val="F97316"/>
                </a:solidFill>
              </a:rPr>
              <a:t>Common Coupling</a:t>
            </a:r>
          </a:p>
          <a:p>
            <a:r>
              <a:rPr sz="1000">
                <a:solidFill>
                  <a:srgbClr val="0F172A"/>
                </a:solidFill>
              </a:rPr>
              <a:t>Static/public global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554480"/>
            <a:ext cx="30175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/>
            <a:r>
              <a:rPr b="1" sz="1600">
                <a:solidFill>
                  <a:srgbClr val="F59E0B"/>
                </a:solidFill>
              </a:rPr>
              <a:t>Control Coupling</a:t>
            </a:r>
          </a:p>
          <a:p>
            <a:r>
              <a:rPr sz="1000">
                <a:solidFill>
                  <a:srgbClr val="0F172A"/>
                </a:solidFill>
              </a:rPr>
              <a:t>Gọi nhau theo flag/luồng điều khiển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74720"/>
            <a:ext cx="30175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/>
            <a:r>
              <a:rPr b="1" sz="1600">
                <a:solidFill>
                  <a:srgbClr val="8B5CF6"/>
                </a:solidFill>
              </a:rPr>
              <a:t>Stamp Coupling</a:t>
            </a:r>
          </a:p>
          <a:p>
            <a:r>
              <a:rPr sz="1000">
                <a:solidFill>
                  <a:srgbClr val="0F172A"/>
                </a:solidFill>
              </a:rPr>
              <a:t>Chuyền cả object lớn chỉ cần 1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474720"/>
            <a:ext cx="30175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/>
            <a:r>
              <a:rPr b="1" sz="1600">
                <a:solidFill>
                  <a:srgbClr val="22C55E"/>
                </a:solidFill>
              </a:rPr>
              <a:t>Message Coupling</a:t>
            </a:r>
          </a:p>
          <a:p>
            <a:r>
              <a:rPr sz="1000">
                <a:solidFill>
                  <a:srgbClr val="0F172A"/>
                </a:solidFill>
              </a:rPr>
              <a:t>Giao tiếp qua interface / 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Content Coupling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Mức độ nguy hiểm nhất — truy cập trực tiếp state của đối tượng khác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023360" cy="347472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F4444"/>
                </a:solidFill>
              </a:rPr>
              <a:t>Bad practice</a:t>
            </a:r>
          </a:p>
          <a:p>
            <a:r>
              <a:rPr sz="1800">
                <a:solidFill>
                  <a:srgbClr val="0F172A"/>
                </a:solidFill>
                <a:latin typeface="Consolas"/>
              </a:rPr>
              <a:t>User user = new User();</a:t>
            </a:r>
            <a:br/>
            <a:r>
              <a:t>user.balance = 0;</a:t>
            </a:r>
            <a:br/>
            <a:r>
              <a:t>user.status = "BLOCKED";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45920"/>
            <a:ext cx="4114800" cy="347472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C55E"/>
                </a:solidFill>
              </a:rPr>
              <a:t>Better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user.debit(500);</a:t>
            </a:r>
            <a:br/>
            <a:r>
              <a:t>user.freezeAccount();</a:t>
            </a:r>
            <a:br/>
            <a:r>
              <a:t>-&gt; Nhà quản lý trạng thái ở 1 nơi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Nguy hiểm vì phá vỡ encapsulation và làm code phụ thuộc vào “bên trong” của đối tượng khác.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Common Coupling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Đặc biệt nguy hiểm khi dùng global state / static public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1737360"/>
            <a:ext cx="2468880" cy="14630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public static</a:t>
            </a:r>
            <a:br/>
            <a:r>
              <a:t>Config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377440"/>
            <a:ext cx="822960" cy="9144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1554480"/>
            <a:ext cx="2011680" cy="128016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OrderService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200400"/>
            <a:ext cx="2011680" cy="128016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BillingService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200400" cy="1554480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Rất khó debug</a:t>
            </a:r>
          </a:p>
          <a:p>
            <a:r>
              <a:t>trong đa luồng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Một thay đổi trong trạng thái toàn cục có thể ảnh hưởng đồng thời mọi module, đặc biệt khi chạy song song.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Control Coupling &amp; Data Coupling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Khi hệ thống phụ thuộc vào “mã điều khiển” hoặc chuyển quá nhiều dữ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017520"/>
          </a:xfrm>
          <a:prstGeom prst="roundRect">
            <a:avLst/>
          </a:prstGeom>
          <a:solidFill>
            <a:srgbClr val="FED7AA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97316"/>
                </a:solidFill>
              </a:rPr>
              <a:t>Control Coupling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process(order, true)</a:t>
            </a:r>
            <a:br/>
            <a:r>
              <a:t>process(order, false)</a:t>
            </a:r>
            <a:br/>
            <a:r>
              <a:t>Flag argument làm thay đổi luồng xử lý.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937760" cy="3017520"/>
          </a:xfrm>
          <a:prstGeom prst="roundRect">
            <a:avLst/>
          </a:prstGeom>
          <a:solidFill>
            <a:srgbClr val="E0E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2563EB"/>
                </a:solidFill>
              </a:rPr>
              <a:t>Stamp Coupling</a:t>
            </a:r>
          </a:p>
          <a:p>
            <a:r>
              <a:rPr sz="1500">
                <a:solidFill>
                  <a:srgbClr val="0F172A"/>
                </a:solidFill>
                <a:latin typeface="Consolas"/>
              </a:rPr>
              <a:t>createInvoice(user, profile, orders, history, locale, token, ...);</a:t>
            </a:r>
            <a:br/>
            <a:r>
              <a:t>Chỉ dùng 1 field nhưng phải pass cả object lớn.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F172A"/>
                </a:solidFill>
              </a:rPr>
              <a:t>Đặt câu hỏi: liệu interface đang yêu cầu quá nhiều, hay logic đang ẩn trong chuỗi tham số?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Message Coupling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Đỉnh cao của Loose Coupling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194560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OrderService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828800"/>
            <a:ext cx="2194560" cy="13716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PaymentPort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2468880"/>
            <a:ext cx="5669280" cy="91440"/>
          </a:xfrm>
          <a:prstGeom prst="rightArrow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01752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Consolas"/>
              </a:rPr>
              <a:t>order.pay(PaymentRequest)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10241280" cy="1280160"/>
          </a:xfrm>
          <a:prstGeom prst="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0F172A"/>
                </a:solidFill>
              </a:rPr>
              <a:t>Thay vì: PaymentGatewayImpl concrete, hãy giao tiếp qua Interface / Port / Message contract.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Cohesion: mức độ tập trung trong một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Từ ngẫu nhiên đến chức năng đơn nhiệm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9659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b="1" sz="1500">
                <a:solidFill>
                  <a:srgbClr val="EF4444"/>
                </a:solidFill>
              </a:rPr>
              <a:t>Coincidental</a:t>
            </a:r>
          </a:p>
          <a:p>
            <a:r>
              <a:rPr sz="1100">
                <a:solidFill>
                  <a:srgbClr val="0F172A"/>
                </a:solidFill>
              </a:rPr>
              <a:t>Không liên quan, gom vào chung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16352" y="1828800"/>
            <a:ext cx="19659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b="1" sz="1500">
                <a:solidFill>
                  <a:srgbClr val="F97316"/>
                </a:solidFill>
              </a:rPr>
              <a:t>Logical</a:t>
            </a:r>
          </a:p>
          <a:p>
            <a:r>
              <a:rPr sz="1100">
                <a:solidFill>
                  <a:srgbClr val="0F172A"/>
                </a:solidFill>
              </a:rPr>
              <a:t>Cùng loại ý tưởng, nhưng chưa cùng mục đích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92624" y="1828800"/>
            <a:ext cx="19659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b="1" sz="1500">
                <a:solidFill>
                  <a:srgbClr val="F59E0B"/>
                </a:solidFill>
              </a:rPr>
              <a:t>Temporal</a:t>
            </a:r>
          </a:p>
          <a:p>
            <a:r>
              <a:rPr sz="1100">
                <a:solidFill>
                  <a:srgbClr val="0F172A"/>
                </a:solidFill>
              </a:rPr>
              <a:t>Cùng thời điểm chạy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68896" y="1828800"/>
            <a:ext cx="19659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b="1" sz="1500">
                <a:solidFill>
                  <a:srgbClr val="8B5CF6"/>
                </a:solidFill>
              </a:rPr>
              <a:t>Procedural</a:t>
            </a:r>
          </a:p>
          <a:p>
            <a:r>
              <a:rPr sz="1100">
                <a:solidFill>
                  <a:srgbClr val="0F172A"/>
                </a:solidFill>
              </a:rPr>
              <a:t>Cùng chuỗi xử lý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45167" y="1828800"/>
            <a:ext cx="19659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b="1" sz="1500">
                <a:solidFill>
                  <a:srgbClr val="22C55E"/>
                </a:solidFill>
              </a:rPr>
              <a:t>Functional</a:t>
            </a:r>
          </a:p>
          <a:p>
            <a:r>
              <a:rPr sz="1100">
                <a:solidFill>
                  <a:srgbClr val="0F172A"/>
                </a:solidFill>
              </a:rPr>
              <a:t>Một nhiệm vụ duy nhất</a:t>
            </a:r>
          </a:p>
          <a:p>
            <a:r>
              <a:rPr sz="1100" b="1">
                <a:solidFill>
                  <a:srgbClr val="22C55E"/>
                </a:solidFill>
              </a:rPr>
              <a:t>Mức lý tưởng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F172A"/>
                </a:solidFill>
              </a:rPr>
              <a:t>Cohesion tốt có nghĩa là module chỉ làm một việc và làm thật tốt việc đó.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Low Cohesion: các kiểu tệ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Tập hợp các công việc khác nhau trong một class/module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4846320" cy="3383280"/>
          </a:xfrm>
          <a:prstGeom prst="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F4444"/>
                </a:solidFill>
              </a:rPr>
              <a:t>CommonUtils</a:t>
            </a:r>
          </a:p>
          <a:p>
            <a:r>
              <a:rPr sz="1300">
                <a:solidFill>
                  <a:srgbClr val="0F172A"/>
                </a:solidFill>
              </a:rPr>
              <a:t>readFile</a:t>
            </a:r>
          </a:p>
          <a:p>
            <a:r>
              <a:rPr sz="1300">
                <a:solidFill>
                  <a:srgbClr val="0F172A"/>
                </a:solidFill>
              </a:rPr>
              <a:t>sendEmail</a:t>
            </a:r>
          </a:p>
          <a:p>
            <a:r>
              <a:rPr sz="1300">
                <a:solidFill>
                  <a:srgbClr val="0F172A"/>
                </a:solidFill>
              </a:rPr>
              <a:t>parseJson</a:t>
            </a:r>
          </a:p>
          <a:p>
            <a:r>
              <a:rPr sz="1300">
                <a:solidFill>
                  <a:srgbClr val="0F172A"/>
                </a:solidFill>
              </a:rPr>
              <a:t>saveToDb</a:t>
            </a:r>
          </a:p>
          <a:p>
            <a:r>
              <a:rPr sz="1300">
                <a:solidFill>
                  <a:srgbClr val="0F172A"/>
                </a:solidFill>
              </a:rPr>
              <a:t>generatePdf</a:t>
            </a:r>
          </a:p>
          <a:p>
            <a:r>
              <a:rPr sz="1300">
                <a:solidFill>
                  <a:srgbClr val="0F172A"/>
                </a:solidFill>
              </a:rPr>
              <a:t>convertImage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4937760" cy="3383280"/>
          </a:xfrm>
          <a:prstGeom prst="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2C55E"/>
                </a:solidFill>
              </a:rPr>
              <a:t>Điểm xấu</a:t>
            </a:r>
          </a:p>
          <a:p>
            <a:r>
              <a:rPr sz="1400">
                <a:solidFill>
                  <a:srgbClr val="0F172A"/>
                </a:solidFill>
              </a:rPr>
              <a:t>• Tăng độ khó hiểu</a:t>
            </a:r>
          </a:p>
          <a:p>
            <a:r>
              <a:rPr sz="1400">
                <a:solidFill>
                  <a:srgbClr val="0F172A"/>
                </a:solidFill>
              </a:rPr>
              <a:t>• Khó refactor</a:t>
            </a:r>
          </a:p>
          <a:p>
            <a:r>
              <a:rPr sz="1400">
                <a:solidFill>
                  <a:srgbClr val="0F172A"/>
                </a:solidFill>
              </a:rPr>
              <a:t>• Khó test</a:t>
            </a:r>
          </a:p>
          <a:p>
            <a:r>
              <a:rPr sz="1400">
                <a:solidFill>
                  <a:srgbClr val="0F172A"/>
                </a:solidFill>
              </a:rPr>
              <a:t>• Thay đổi khúc xạ</a:t>
            </a:r>
          </a:p>
          <a:p>
            <a:r>
              <a:rPr sz="1400">
                <a:solidFill>
                  <a:srgbClr val="0F172A"/>
                </a:solidFill>
              </a:rPr>
              <a:t>• Rủi ro sai sót cao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Functional Cohesion &amp; SRP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Một class nên có “một lý do để thay đổi”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338328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F4444"/>
                </a:solidFill>
              </a:rPr>
              <a:t>Bad: OrderService</a:t>
            </a:r>
          </a:p>
          <a:p>
            <a:r>
              <a:rPr sz="1200">
                <a:solidFill>
                  <a:srgbClr val="0F172A"/>
                </a:solidFill>
              </a:rPr>
              <a:t>validateOrder</a:t>
            </a:r>
          </a:p>
          <a:p>
            <a:r>
              <a:rPr sz="1200">
                <a:solidFill>
                  <a:srgbClr val="0F172A"/>
                </a:solidFill>
              </a:rPr>
              <a:t>sendSms</a:t>
            </a:r>
          </a:p>
          <a:p>
            <a:r>
              <a:rPr sz="1200">
                <a:solidFill>
                  <a:srgbClr val="0F172A"/>
                </a:solidFill>
              </a:rPr>
              <a:t>saveInvoice</a:t>
            </a:r>
          </a:p>
          <a:p>
            <a:r>
              <a:rPr sz="1200">
                <a:solidFill>
                  <a:srgbClr val="0F172A"/>
                </a:solidFill>
              </a:rPr>
              <a:t>calculateTax</a:t>
            </a:r>
          </a:p>
          <a:p>
            <a:r>
              <a:rPr sz="1200">
                <a:solidFill>
                  <a:srgbClr val="0F172A"/>
                </a:solidFill>
              </a:rPr>
              <a:t>sendEmail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4846320" cy="338328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C55E"/>
                </a:solidFill>
              </a:rPr>
              <a:t>Good: một module = một trách nhiệm</a:t>
            </a:r>
          </a:p>
          <a:p>
            <a:r>
              <a:rPr sz="1300">
                <a:solidFill>
                  <a:srgbClr val="0F172A"/>
                </a:solidFill>
              </a:rPr>
              <a:t>OrderValidator</a:t>
            </a:r>
          </a:p>
          <a:p>
            <a:r>
              <a:rPr sz="1300">
                <a:solidFill>
                  <a:srgbClr val="0F172A"/>
                </a:solidFill>
              </a:rPr>
              <a:t>InvoiceRepository</a:t>
            </a:r>
          </a:p>
          <a:p>
            <a:r>
              <a:rPr sz="1300">
                <a:solidFill>
                  <a:srgbClr val="0F172A"/>
                </a:solidFill>
              </a:rPr>
              <a:t>PaymentGateway</a:t>
            </a:r>
          </a:p>
          <a:p>
            <a:r>
              <a:rPr sz="1300">
                <a:solidFill>
                  <a:srgbClr val="0F172A"/>
                </a:solidFill>
              </a:rPr>
              <a:t>NotificationService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DIP &amp; ISP: giảm Coupling bằng trừu tượng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Phụ thuộc vào abstraction, không phụ thuộc vào concrete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377440" cy="12801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Concrete</a:t>
            </a:r>
          </a:p>
          <a:p>
            <a:r>
              <a:t>EmailService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645920"/>
            <a:ext cx="2194560" cy="1280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Notification</a:t>
            </a:r>
          </a:p>
          <a:p>
            <a:r>
              <a:t>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0" y="1645920"/>
            <a:ext cx="2468880" cy="12801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SMS/Email</a:t>
            </a:r>
          </a:p>
          <a:p>
            <a:r>
              <a:t>Implementations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83280" y="2286000"/>
            <a:ext cx="1463039" cy="9144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223760" y="2286000"/>
            <a:ext cx="1188719" cy="9144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10149840" cy="164592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0F172A"/>
                </a:solidFill>
              </a:rPr>
              <a:t>Điều quan trọng: module cấp cao không biết “cách gửi mail” mà chỉ biết “gửi thông báo”.</a:t>
            </a:r>
            <a:br/>
            <a:r>
              <a:t>DIP giảm coupling bằng việc trao đổi contract chứ không phải implementation.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Unit Test: hàn thử biểu cho thiết kế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Thiết kế tốt làm cho test dễ viết, dễ đọc và dễ bảo trì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572000" cy="338328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F4444"/>
                </a:solidFill>
              </a:rPr>
              <a:t>Không thể test</a:t>
            </a:r>
          </a:p>
          <a:p>
            <a:r>
              <a:rPr sz="1200">
                <a:solidFill>
                  <a:srgbClr val="0F172A"/>
                </a:solidFill>
              </a:rPr>
              <a:t>• Khởi tạo toàn bộ hệ thống</a:t>
            </a:r>
          </a:p>
          <a:p>
            <a:r>
              <a:rPr sz="1200">
                <a:solidFill>
                  <a:srgbClr val="0F172A"/>
                </a:solidFill>
              </a:rPr>
              <a:t>• Dùng static global</a:t>
            </a:r>
          </a:p>
          <a:p>
            <a:r>
              <a:rPr sz="1200">
                <a:solidFill>
                  <a:srgbClr val="0F172A"/>
                </a:solidFill>
              </a:rPr>
              <a:t>• Không mock được dependency</a:t>
            </a:r>
          </a:p>
          <a:p>
            <a:r>
              <a:rPr sz="1200">
                <a:solidFill>
                  <a:srgbClr val="0F172A"/>
                </a:solidFill>
              </a:rPr>
              <a:t>• Cần biết quá nhiều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3383280"/>
          </a:xfrm>
          <a:prstGeom prst="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C55E"/>
                </a:solidFill>
              </a:rPr>
              <a:t>Test tốt</a:t>
            </a:r>
          </a:p>
          <a:p>
            <a:r>
              <a:rPr sz="1200">
                <a:solidFill>
                  <a:srgbClr val="0F172A"/>
                </a:solidFill>
              </a:rPr>
              <a:t>• Dễ stub dependency</a:t>
            </a:r>
          </a:p>
          <a:p>
            <a:r>
              <a:rPr sz="1200">
                <a:solidFill>
                  <a:srgbClr val="0F172A"/>
                </a:solidFill>
              </a:rPr>
              <a:t>• Mỗi case độc lập</a:t>
            </a:r>
          </a:p>
          <a:p>
            <a:r>
              <a:rPr sz="1200">
                <a:solidFill>
                  <a:srgbClr val="0F172A"/>
                </a:solidFill>
              </a:rPr>
              <a:t>• Thay đổi nhỏ =&gt; test ít lỗi</a:t>
            </a:r>
          </a:p>
          <a:p>
            <a:r>
              <a:rPr sz="1200">
                <a:solidFill>
                  <a:srgbClr val="0F172A"/>
                </a:solidFill>
              </a:rPr>
              <a:t>• Feedback nhanh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Nếu code khó test -&gt; thiết kế có thể đang quá chặt chẽ hoặc quá rời rạc.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Refactoring và đo lường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Từ cảm giác đến số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800">
                <a:solidFill>
                  <a:srgbClr val="2563EB"/>
                </a:solidFill>
              </a:rPr>
              <a:t>CBO</a:t>
            </a:r>
          </a:p>
          <a:p>
            <a:r>
              <a:rPr sz="1100">
                <a:solidFill>
                  <a:srgbClr val="0F172A"/>
                </a:solidFill>
              </a:rPr>
              <a:t>Số lượng class phụ thuộc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28600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800">
                <a:solidFill>
                  <a:srgbClr val="0EA5E9"/>
                </a:solidFill>
              </a:rPr>
              <a:t>RFC</a:t>
            </a:r>
          </a:p>
          <a:p>
            <a:r>
              <a:rPr sz="1100">
                <a:solidFill>
                  <a:srgbClr val="0F172A"/>
                </a:solidFill>
              </a:rPr>
              <a:t>Số method có thể gọi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28600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800">
                <a:solidFill>
                  <a:srgbClr val="F97316"/>
                </a:solidFill>
              </a:rPr>
              <a:t>LCOM</a:t>
            </a:r>
          </a:p>
          <a:p>
            <a:r>
              <a:rPr sz="1100">
                <a:solidFill>
                  <a:srgbClr val="0F172A"/>
                </a:solidFill>
              </a:rPr>
              <a:t>Mức độ phân tán trong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28600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800">
                <a:solidFill>
                  <a:srgbClr val="22C55E"/>
                </a:solidFill>
              </a:rPr>
              <a:t>SonarQube</a:t>
            </a:r>
          </a:p>
          <a:p>
            <a:r>
              <a:rPr sz="1100">
                <a:solidFill>
                  <a:srgbClr val="0F172A"/>
                </a:solidFill>
              </a:rPr>
              <a:t>Code smell / nợ kỹ thuật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Công cụ giúp thấy “điểm nóng” của thiết kế, nhưng nguyên tắc đầu tiên vẫn là tư duy phân tách trách nhiệm.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Checklist thiết kế tốt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Mỗi lần refactor, hãy hỏi 5 câu này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07040" cy="54864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1. Module này có quá nhiều lý do để thay đổi không?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607040" cy="54864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2. Có thể có class khác truy cập state private không?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0607040" cy="54864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3. Có flag argument / static global nào ẩn trong code không?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10607040" cy="54864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4. Mỗi method/class đang làm quá nhiều việc không?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607040" cy="54864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5. Tôi có thể test từng phần độc lập không?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Các nguyên tắc cần nhớ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Đơn giản và với mục tiêu bảo trì lâu dài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148840" cy="24688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2200" b="1">
                <a:solidFill>
                  <a:srgbClr val="2563EB"/>
                </a:solidFill>
              </a:rPr>
              <a:t>SRP</a:t>
            </a:r>
          </a:p>
          <a:p>
            <a:r>
              <a:rPr sz="1200">
                <a:solidFill>
                  <a:srgbClr val="0F172A"/>
                </a:solidFill>
              </a:rPr>
              <a:t>Một class, một lý do thay đổi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148840" cy="2468880"/>
          </a:xfrm>
          <a:prstGeom prst="roundRect">
            <a:avLst/>
          </a:prstGeom>
          <a:solidFill>
            <a:srgbClr val="EFF6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2200" b="1">
                <a:solidFill>
                  <a:srgbClr val="0EA5E9"/>
                </a:solidFill>
              </a:rPr>
              <a:t>DIP</a:t>
            </a:r>
          </a:p>
          <a:p>
            <a:r>
              <a:rPr sz="1200">
                <a:solidFill>
                  <a:srgbClr val="0F172A"/>
                </a:solidFill>
              </a:rPr>
              <a:t>Phụ thuộc vào abstraction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148840" cy="2468880"/>
          </a:xfrm>
          <a:prstGeom prst="roundRect">
            <a:avLst/>
          </a:prstGeom>
          <a:solidFill>
            <a:srgbClr val="EFF6F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2200" b="1">
                <a:solidFill>
                  <a:srgbClr val="22C55E"/>
                </a:solidFill>
              </a:rPr>
              <a:t>ISP</a:t>
            </a:r>
          </a:p>
          <a:p>
            <a:r>
              <a:rPr sz="1200">
                <a:solidFill>
                  <a:srgbClr val="0F172A"/>
                </a:solidFill>
              </a:rPr>
              <a:t>Không ép client dùng API thừa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828800"/>
            <a:ext cx="2148840" cy="2468880"/>
          </a:xfrm>
          <a:prstGeom prst="roundRect">
            <a:avLst/>
          </a:prstGeom>
          <a:solidFill>
            <a:srgbClr val="EFF6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2200" b="1">
                <a:solidFill>
                  <a:srgbClr val="14B8A6"/>
                </a:solidFill>
              </a:rPr>
              <a:t>High Cohesion</a:t>
            </a:r>
          </a:p>
          <a:p>
            <a:r>
              <a:rPr sz="1200">
                <a:solidFill>
                  <a:srgbClr val="0F172A"/>
                </a:solidFill>
              </a:rPr>
              <a:t>Một module làm đúng một việc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F172A"/>
                </a:solidFill>
              </a:rPr>
              <a:t>Thiết kế tốt không phải “có nhiều lớp”, mà là “các lớp hợp lý và phụ thuộc đúng mức”.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Mục tiêu cuối cùng là hệ thống dễ thay đổi, dễ test và dễ mở rộng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475488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Low Coupling: Giảm ràng buộc giữa module, giảm ripple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475488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High Cohesion: Một module làm một việc, làm đúng việc đó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475488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Clear Contracts: Interface và message rõ ràng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743200"/>
            <a:ext cx="475488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Good Tests: Mỗi thay đổi đều có phản hồi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475488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Clean Architecture: Dễ bảo trì trong dài hạn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5029200"/>
            <a:ext cx="8046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</a:rPr>
              <a:t>“Nền tảng của thiết kế tốt là giảm phụ thuộc và tăng tập trung trách nhiệm.”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Câu hỏi &amp; thảo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Hãy đặt câu hỏi về design smell, refactor và trade-off thực tế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1828800"/>
            <a:ext cx="2926080" cy="2926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6576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Mức coupling hiện tại?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45920"/>
            <a:ext cx="36576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Module nào đang quá dính?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36576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Class nào thiếu cohesion?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017520"/>
            <a:ext cx="36576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Refactor theo hướng nào?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 Semibold"/>
              </a:rPr>
              <a:t>Cảm ơn!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Hẹn gặp lại trong buổi thực hành refactor Java tiếp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103120"/>
            <a:ext cx="9966960" cy="182880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563EB"/>
                </a:solidFill>
              </a:rPr>
              <a:t>“Thiết kế tốt là khi bạn không sợ thay đổi.”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754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F172A"/>
                </a:solidFill>
              </a:rPr>
              <a:t>— Coupling &amp; Cohesion: từ lý thuyết đến Java thực tế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Segoe UI"/>
              </a:rPr>
              <a:t>Seminar: Tối ưu Coupling &amp; Cohesion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